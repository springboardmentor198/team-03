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199F38-72E8-44BF-BEFA-3132CEA5C44D}" v="34" dt="2026-08-16T15:12:45.220"/>
    <p1510:client id="{86617EA9-0473-49E4-AC77-CCA0BFD1ADBC}" v="8" dt="2026-08-16T19:21:50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enq3XOjdT799xZuijPH27hF6G4IMCph0/view?usp=sharing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4647895" cy="6858000"/>
          </a:xfrm>
          <a:prstGeom prst="rect">
            <a:avLst/>
          </a:prstGeom>
          <a:solidFill>
            <a:srgbClr val="10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ver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0"/>
            <a:ext cx="46478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43800" y="0"/>
            <a:ext cx="4647895" cy="6858000"/>
          </a:xfrm>
          <a:prstGeom prst="rect">
            <a:avLst/>
          </a:prstGeom>
          <a:solidFill>
            <a:srgbClr val="0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 rot="20520000">
            <a:off x="7086600" y="5394960"/>
            <a:ext cx="4754880" cy="1097280"/>
          </a:xfrm>
          <a:prstGeom prst="roundRect">
            <a:avLst/>
          </a:prstGeom>
          <a:solidFill>
            <a:srgbClr val="97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C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1">
                <a:solidFill>
                  <a:srgbClr val="1CCD65"/>
                </a:solidFill>
                <a:latin typeface="Aptos"/>
              </a:rPr>
              <a:t>REAL ESTATE DUE DILIGENCE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234440"/>
            <a:ext cx="6035040" cy="1965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3500" b="1">
                <a:solidFill>
                  <a:srgbClr val="F7F9FC"/>
                </a:solidFill>
                <a:latin typeface="Aptos Display"/>
              </a:rPr>
              <a:t>AI-Powered
Property Risk
&amp;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493008"/>
            <a:ext cx="576072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500" b="0">
                <a:solidFill>
                  <a:srgbClr val="A0AEC2"/>
                </a:solidFill>
                <a:latin typeface="Aptos"/>
              </a:rPr>
              <a:t>From scattered checks to one evidence-driven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434840"/>
            <a:ext cx="5715000" cy="96012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4681728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>
                <a:solidFill>
                  <a:srgbClr val="F7F9FC"/>
                </a:solidFill>
                <a:latin typeface="Aptos"/>
              </a:rPr>
              <a:t>6 risk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92624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80" b="0">
                <a:solidFill>
                  <a:srgbClr val="A0AEC2"/>
                </a:solidFill>
                <a:latin typeface="Aptos"/>
              </a:rPr>
              <a:t>Flood  •  Legal  •  Tax  •  Zoning  •  Environmental  •  Market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989320"/>
            <a:ext cx="1097280" cy="274320"/>
          </a:xfrm>
          <a:prstGeom prst="roundRect">
            <a:avLst/>
          </a:prstGeom>
          <a:solidFill>
            <a:srgbClr val="97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5998464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TEAM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600760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>
                <a:solidFill>
                  <a:srgbClr val="A0AEC2"/>
                </a:solidFill>
                <a:latin typeface="Aptos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80" b="1">
                <a:solidFill>
                  <a:srgbClr val="42C4F5"/>
                </a:solidFill>
                <a:latin typeface="Aptos"/>
              </a:rPr>
              <a:t>01 •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035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>
                <a:solidFill>
                  <a:srgbClr val="F7F9FC"/>
                </a:solidFill>
                <a:latin typeface="Aptos Display"/>
              </a:rPr>
              <a:t>The foundation behind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0">
                <a:solidFill>
                  <a:srgbClr val="A0AEC2"/>
                </a:solidFill>
                <a:latin typeface="Aptos"/>
              </a:rPr>
              <a:t>A modern Java + React stack designed for secure, scalable property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084831" cy="297180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8952" y="2057400"/>
            <a:ext cx="384048" cy="274320"/>
          </a:xfrm>
          <a:prstGeom prst="roundRect">
            <a:avLst/>
          </a:prstGeom>
          <a:solidFill>
            <a:srgbClr val="42C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066543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060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>
                <a:solidFill>
                  <a:srgbClr val="42C4F5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35808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500" b="1">
                <a:solidFill>
                  <a:srgbClr val="F7F9FC"/>
                </a:solidFill>
                <a:latin typeface="Aptos Display"/>
              </a:rPr>
              <a:t>Next.js 16.2.10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822191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30" b="0">
                <a:solidFill>
                  <a:srgbClr val="A0AEC2"/>
                </a:solidFill>
                <a:latin typeface="Aptos"/>
              </a:rPr>
              <a:t>React 19.2.4 • Tailwind v4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874519"/>
            <a:ext cx="2084831" cy="297180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44952" y="2057400"/>
            <a:ext cx="384048" cy="274320"/>
          </a:xfrm>
          <a:prstGeom prst="roundRect">
            <a:avLst/>
          </a:prstGeom>
          <a:solidFill>
            <a:srgbClr val="1CC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44952" y="2066543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6060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>
                <a:solidFill>
                  <a:srgbClr val="1CCD65"/>
                </a:solidFill>
                <a:latin typeface="Aptos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3035808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500" b="1">
                <a:solidFill>
                  <a:srgbClr val="F7F9FC"/>
                </a:solidFill>
                <a:latin typeface="Aptos Display"/>
              </a:rPr>
              <a:t>Spring Boot 4.1.0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2" y="3822191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30" b="0">
                <a:solidFill>
                  <a:srgbClr val="A0AEC2"/>
                </a:solidFill>
                <a:latin typeface="Aptos"/>
              </a:rPr>
              <a:t>Java 17 • JPA • REST APIs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1874519"/>
            <a:ext cx="2084831" cy="297180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330952" y="2057400"/>
            <a:ext cx="384048" cy="274320"/>
          </a:xfrm>
          <a:prstGeom prst="roundRect">
            <a:avLst/>
          </a:prstGeom>
          <a:solidFill>
            <a:srgbClr val="F5B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30952" y="2066543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2" y="26060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>
                <a:solidFill>
                  <a:srgbClr val="F5B235"/>
                </a:solidFill>
                <a:latin typeface="Aptos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3035808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500" b="1">
                <a:solidFill>
                  <a:srgbClr val="F7F9FC"/>
                </a:solidFill>
                <a:latin typeface="Aptos Display"/>
              </a:rPr>
              <a:t>PostgreSQL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0952" y="3822191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30" b="0">
                <a:solidFill>
                  <a:srgbClr val="A0AEC2"/>
                </a:solidFill>
                <a:latin typeface="Aptos"/>
              </a:rPr>
              <a:t>Hibernate • JSONB • ACID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1874519"/>
            <a:ext cx="2084831" cy="297180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616952" y="2057400"/>
            <a:ext cx="384048" cy="274320"/>
          </a:xfrm>
          <a:prstGeom prst="roundRect">
            <a:avLst/>
          </a:prstGeom>
          <a:solidFill>
            <a:srgbClr val="97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16952" y="2066543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2" y="26060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>
                <a:solidFill>
                  <a:srgbClr val="9766FF"/>
                </a:solidFill>
                <a:latin typeface="Aptos"/>
              </a:rPr>
              <a:t>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2" y="3035808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500" b="1">
                <a:solidFill>
                  <a:srgbClr val="F7F9FC"/>
                </a:solidFill>
                <a:latin typeface="Aptos Display"/>
              </a:rPr>
              <a:t>Groq / Llama 3.3 70B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2" y="3822191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30" b="0">
                <a:solidFill>
                  <a:srgbClr val="A0AEC2"/>
                </a:solidFill>
                <a:latin typeface="Aptos"/>
              </a:rPr>
              <a:t>AI summaries • SSE chat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1874519"/>
            <a:ext cx="2084831" cy="297180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902952" y="2057400"/>
            <a:ext cx="384048" cy="274320"/>
          </a:xfrm>
          <a:prstGeom prst="roundRect">
            <a:avLst/>
          </a:prstGeom>
          <a:solidFill>
            <a:srgbClr val="0FA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02952" y="2066543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2952" y="26060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>
                <a:solidFill>
                  <a:srgbClr val="0FA673"/>
                </a:solidFill>
                <a:latin typeface="Aptos"/>
              </a:rPr>
              <a:t>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952" y="3035808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500" b="1">
                <a:solidFill>
                  <a:srgbClr val="F7F9FC"/>
                </a:solidFill>
                <a:latin typeface="Aptos Display"/>
              </a:rPr>
              <a:t>Vercel + Render + Docker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2952" y="3822191"/>
            <a:ext cx="1719072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30" b="0">
                <a:solidFill>
                  <a:srgbClr val="A0AEC2"/>
                </a:solidFill>
                <a:latin typeface="Aptos"/>
              </a:rPr>
              <a:t>CI/CD • health checks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23036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19" b="1">
                <a:solidFill>
                  <a:srgbClr val="A0AEC2"/>
                </a:solidFill>
                <a:latin typeface="Aptos"/>
              </a:rPr>
              <a:t>Supporting layer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83080" y="5166360"/>
            <a:ext cx="1234440" cy="274320"/>
          </a:xfrm>
          <a:prstGeom prst="round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783080" y="517550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750" b="1">
                <a:solidFill>
                  <a:srgbClr val="DBE4EF"/>
                </a:solidFill>
                <a:latin typeface="Aptos"/>
              </a:rPr>
              <a:t>JWT</a:t>
            </a:r>
            <a:endParaRPr sz="750" b="1">
              <a:solidFill>
                <a:srgbClr val="DBE4EF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3172968" y="5166360"/>
            <a:ext cx="1234440" cy="274320"/>
          </a:xfrm>
          <a:prstGeom prst="round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72968" y="517550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DBE4EF"/>
                </a:solidFill>
                <a:latin typeface="Aptos"/>
              </a:rPr>
              <a:t>Bucket4j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62856" y="5166360"/>
            <a:ext cx="1234440" cy="274320"/>
          </a:xfrm>
          <a:prstGeom prst="round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62856" y="517550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DBE4EF"/>
                </a:solidFill>
                <a:latin typeface="Aptos"/>
              </a:rPr>
              <a:t>Vitest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52744" y="5166360"/>
            <a:ext cx="1234440" cy="274320"/>
          </a:xfrm>
          <a:prstGeom prst="round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52744" y="517550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DBE4EF"/>
                </a:solidFill>
                <a:latin typeface="Aptos"/>
              </a:rPr>
              <a:t>JUnit / Mockito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42631" y="5166360"/>
            <a:ext cx="1234440" cy="274320"/>
          </a:xfrm>
          <a:prstGeom prst="round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42631" y="517550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DBE4EF"/>
                </a:solidFill>
                <a:latin typeface="Aptos"/>
              </a:rPr>
              <a:t>Leaflet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32519" y="5166360"/>
            <a:ext cx="1234440" cy="274320"/>
          </a:xfrm>
          <a:prstGeom prst="round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32519" y="517550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DBE4EF"/>
                </a:solidFill>
                <a:latin typeface="Aptos"/>
              </a:rPr>
              <a:t>iText 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22408" y="5166360"/>
            <a:ext cx="1234440" cy="274320"/>
          </a:xfrm>
          <a:prstGeom prst="round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22408" y="517550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DBE4EF"/>
                </a:solidFill>
                <a:latin typeface="Aptos"/>
              </a:rPr>
              <a:t>Apache POI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1">
                <a:solidFill>
                  <a:srgbClr val="A0AEC2"/>
                </a:solidFill>
                <a:latin typeface="Aptos"/>
              </a:rPr>
              <a:t>REAL ESTATE DUE DILIGENCE AGENT  •  TEAM 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648309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750" b="1">
                <a:solidFill>
                  <a:srgbClr val="A0AEC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80" b="1">
                <a:solidFill>
                  <a:srgbClr val="1CCD65"/>
                </a:solidFill>
                <a:latin typeface="Aptos"/>
              </a:rPr>
              <a:t>02 •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035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>
                <a:solidFill>
                  <a:srgbClr val="F7F9FC"/>
                </a:solidFill>
                <a:latin typeface="Aptos Display"/>
              </a:rPr>
              <a:t>A complete property-intelligence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0">
                <a:solidFill>
                  <a:srgbClr val="A0AEC2"/>
                </a:solidFill>
                <a:latin typeface="Aptos"/>
              </a:rPr>
              <a:t>Search → verify → assess → explain →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883664"/>
            <a:ext cx="3566160" cy="269748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6d405d6a-2ae3-44d9-9403-d07d6b30d3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3566160" cy="2697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52544" y="1883664"/>
            <a:ext cx="3566160" cy="269748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ce7f015-96af-41ac-b07b-432697db54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828800"/>
            <a:ext cx="3566160" cy="2697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74151" y="1883664"/>
            <a:ext cx="3566160" cy="269748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9b7dde81-0adc-4476-bff9-87e49e2de6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5" y="1828800"/>
            <a:ext cx="3566160" cy="26974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" y="1993392"/>
            <a:ext cx="960120" cy="274320"/>
          </a:xfrm>
          <a:prstGeom prst="roundRect">
            <a:avLst/>
          </a:prstGeom>
          <a:solidFill>
            <a:srgbClr val="1CC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00253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PORTFOLIO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9704" y="1993392"/>
            <a:ext cx="822960" cy="274320"/>
          </a:xfrm>
          <a:prstGeom prst="roundRect">
            <a:avLst/>
          </a:prstGeom>
          <a:solidFill>
            <a:srgbClr val="42C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9704" y="200253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1993392"/>
            <a:ext cx="731520" cy="274320"/>
          </a:xfrm>
          <a:prstGeom prst="roundRect">
            <a:avLst/>
          </a:prstGeom>
          <a:solidFill>
            <a:srgbClr val="F5B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200253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78231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1">
                <a:solidFill>
                  <a:srgbClr val="F7F9FC"/>
                </a:solidFill>
                <a:latin typeface="Aptos Display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48072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0">
                <a:solidFill>
                  <a:srgbClr val="A0AEC2"/>
                </a:solidFill>
                <a:latin typeface="Aptos"/>
              </a:rPr>
              <a:t>Portfolio value, verification coverage, air quality and trends.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478231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1">
                <a:solidFill>
                  <a:srgbClr val="F7F9FC"/>
                </a:solidFill>
                <a:latin typeface="Aptos Display"/>
              </a:rPr>
              <a:t>Discover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5148072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0">
                <a:solidFill>
                  <a:srgbClr val="A0AEC2"/>
                </a:solidFill>
                <a:latin typeface="Aptos"/>
              </a:rPr>
              <a:t>Search properties with verification, category and risk indicators.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6" y="478231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1">
                <a:solidFill>
                  <a:srgbClr val="F7F9FC"/>
                </a:solidFill>
                <a:latin typeface="Aptos Display"/>
              </a:rPr>
              <a:t>Assess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5148072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0">
                <a:solidFill>
                  <a:srgbClr val="A0AEC2"/>
                </a:solidFill>
                <a:latin typeface="Aptos"/>
              </a:rPr>
              <a:t>Six-category portfolio risk with weighted scoring and visual profiles.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1">
                <a:solidFill>
                  <a:srgbClr val="A0AEC2"/>
                </a:solidFill>
                <a:latin typeface="Aptos"/>
              </a:rPr>
              <a:t>REAL ESTATE DUE DILIGENCE AGENT  •  TEAM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8309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750" b="1">
                <a:solidFill>
                  <a:srgbClr val="A0AEC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80" b="1">
                <a:solidFill>
                  <a:srgbClr val="F5B235"/>
                </a:solidFill>
                <a:latin typeface="Aptos"/>
              </a:rPr>
              <a:t>03 •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035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>
                <a:solidFill>
                  <a:srgbClr val="F7F9FC"/>
                </a:solidFill>
                <a:latin typeface="Aptos Display"/>
              </a:rPr>
              <a:t>Property decisions are high-stakes — but evidence is fragmented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0">
                <a:solidFill>
                  <a:srgbClr val="A0AEC2"/>
                </a:solidFill>
                <a:latin typeface="Aptos"/>
              </a:rPr>
              <a:t>The platform is designed around the verification gaps that make due diligence slow and uncertain.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3749039" cy="402336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>
                <a:solidFill>
                  <a:srgbClr val="EE525B"/>
                </a:solidFill>
                <a:latin typeface="Aptos"/>
              </a:rPr>
              <a:t>THE OLD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2971800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500" b="1">
                <a:solidFill>
                  <a:srgbClr val="F7F9FC"/>
                </a:solidFill>
                <a:latin typeface="Aptos Display"/>
              </a:rPr>
              <a:t>One address.
Six risk questions.
Many disconnected checks.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224528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>
                <a:solidFill>
                  <a:srgbClr val="A0AEC2"/>
                </a:solidFill>
                <a:latin typeface="Aptos"/>
              </a:rPr>
              <a:t>Ownership • tax • zoning • flood • environment •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5230368"/>
            <a:ext cx="960120" cy="274320"/>
          </a:xfrm>
          <a:prstGeom prst="roundRect">
            <a:avLst/>
          </a:prstGeom>
          <a:solidFill>
            <a:srgbClr val="EE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5239512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MANUAL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874519"/>
            <a:ext cx="3127248" cy="1691640"/>
          </a:xfrm>
          <a:prstGeom prst="roundRect">
            <a:avLst/>
          </a:prstGeom>
          <a:solidFill>
            <a:srgbClr val="19263A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73752" y="2057400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>
                <a:solidFill>
                  <a:srgbClr val="EE525B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40487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1">
                <a:solidFill>
                  <a:srgbClr val="F7F9FC"/>
                </a:solidFill>
                <a:latin typeface="Aptos Display"/>
              </a:rPr>
              <a:t>FRAGMENTED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280720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19" b="0">
                <a:solidFill>
                  <a:srgbClr val="A0AEC2"/>
                </a:solidFill>
                <a:latin typeface="Aptos"/>
              </a:rPr>
              <a:t>Critical evidence is spread across different systems.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8" y="1874519"/>
            <a:ext cx="3127248" cy="1691640"/>
          </a:xfrm>
          <a:prstGeom prst="roundRect">
            <a:avLst/>
          </a:prstGeom>
          <a:solidFill>
            <a:srgbClr val="19263A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057400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>
                <a:solidFill>
                  <a:srgbClr val="F5B235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0487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1">
                <a:solidFill>
                  <a:srgbClr val="F7F9FC"/>
                </a:solidFill>
                <a:latin typeface="Aptos Display"/>
              </a:rPr>
              <a:t>FRAUD EXPOSURE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80720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19" b="0">
                <a:solidFill>
                  <a:srgbClr val="A0AEC2"/>
                </a:solidFill>
                <a:latin typeface="Aptos"/>
              </a:rPr>
              <a:t>Fake ownership, disputes and unauthorised work can be missed.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3886200"/>
            <a:ext cx="3127248" cy="1691640"/>
          </a:xfrm>
          <a:prstGeom prst="roundRect">
            <a:avLst/>
          </a:prstGeom>
          <a:solidFill>
            <a:srgbClr val="19263A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73752" y="4069080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>
                <a:solidFill>
                  <a:srgbClr val="42C4F5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441655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1">
                <a:solidFill>
                  <a:srgbClr val="F7F9FC"/>
                </a:solidFill>
                <a:latin typeface="Aptos Display"/>
              </a:rPr>
              <a:t>SLOW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3752" y="481888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19" b="0">
                <a:solidFill>
                  <a:srgbClr val="A0AEC2"/>
                </a:solidFill>
                <a:latin typeface="Aptos"/>
              </a:rPr>
              <a:t>Manual research delays a buyer's ability to act.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0728" y="3886200"/>
            <a:ext cx="3127248" cy="1691640"/>
          </a:xfrm>
          <a:prstGeom prst="roundRect">
            <a:avLst/>
          </a:prstGeom>
          <a:solidFill>
            <a:srgbClr val="19263A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4069080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>
                <a:solidFill>
                  <a:srgbClr val="9766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41655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1">
                <a:solidFill>
                  <a:srgbClr val="F7F9FC"/>
                </a:solidFill>
                <a:latin typeface="Aptos Display"/>
              </a:rPr>
              <a:t>NO SINGLE RISK 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81888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19" b="0">
                <a:solidFill>
                  <a:srgbClr val="A0AEC2"/>
                </a:solidFill>
                <a:latin typeface="Aptos"/>
              </a:rPr>
              <a:t>Data exists, but the decision context is scattered.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1">
                <a:solidFill>
                  <a:srgbClr val="A0AEC2"/>
                </a:solidFill>
                <a:latin typeface="Aptos"/>
              </a:rPr>
              <a:t>REAL ESTATE DUE DILIGENCE AGENT  •  TEAM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8309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750" b="1">
                <a:solidFill>
                  <a:srgbClr val="A0AEC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80" b="1">
                <a:solidFill>
                  <a:srgbClr val="9766FF"/>
                </a:solidFill>
                <a:latin typeface="Aptos"/>
              </a:rPr>
              <a:t>04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035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>
                <a:solidFill>
                  <a:srgbClr val="F7F9FC"/>
                </a:solidFill>
                <a:latin typeface="Aptos Display"/>
              </a:rPr>
              <a:t>A layered platform built for secure evidence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0">
                <a:solidFill>
                  <a:srgbClr val="A0AEC2"/>
                </a:solidFill>
                <a:latin typeface="Aptos"/>
              </a:rPr>
              <a:t>Same-origin API access, layered backend services, PostgreSQL persistence and external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965960" cy="114300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00" b="1">
                <a:solidFill>
                  <a:srgbClr val="42C4F5"/>
                </a:solidFill>
                <a:latin typeface="Aptos"/>
              </a:rPr>
              <a:t>USER /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96312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100" b="1">
                <a:solidFill>
                  <a:srgbClr val="F7F9FC"/>
                </a:solidFill>
                <a:latin typeface="Aptos Display"/>
              </a:rPr>
              <a:t>Next.js • React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2487168"/>
            <a:ext cx="548640" cy="0"/>
          </a:xfrm>
          <a:prstGeom prst="line">
            <a:avLst/>
          </a:prstGeom>
          <a:ln w="21590">
            <a:solidFill>
              <a:srgbClr val="1CC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46120" y="1600200"/>
            <a:ext cx="2103120" cy="1783080"/>
          </a:xfrm>
          <a:prstGeom prst="roundRect">
            <a:avLst/>
          </a:prstGeom>
          <a:solidFill>
            <a:srgbClr val="19263A"/>
          </a:solidFill>
          <a:ln w="10160">
            <a:solidFill>
              <a:srgbClr val="1CC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56432" y="1847088"/>
            <a:ext cx="1682496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00" b="1">
                <a:solidFill>
                  <a:srgbClr val="1CCD65"/>
                </a:solidFill>
                <a:latin typeface="Aptos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258568"/>
            <a:ext cx="1682496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400" b="1">
                <a:solidFill>
                  <a:srgbClr val="F7F9FC"/>
                </a:solidFill>
                <a:latin typeface="Aptos Display"/>
              </a:rPr>
              <a:t>/api/* proxy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688336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880" b="0">
                <a:solidFill>
                  <a:srgbClr val="A0AEC2"/>
                </a:solidFill>
                <a:latin typeface="Aptos"/>
              </a:rPr>
              <a:t>SSR • routing • UI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0" y="2487168"/>
            <a:ext cx="502920" cy="0"/>
          </a:xfrm>
          <a:prstGeom prst="line">
            <a:avLst/>
          </a:prstGeom>
          <a:ln w="21590">
            <a:solidFill>
              <a:srgbClr val="42C4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43600" y="1600200"/>
            <a:ext cx="2240280" cy="1783080"/>
          </a:xfrm>
          <a:prstGeom prst="roundRect">
            <a:avLst/>
          </a:prstGeom>
          <a:solidFill>
            <a:srgbClr val="19263A"/>
          </a:solidFill>
          <a:ln w="10160">
            <a:solidFill>
              <a:srgbClr val="97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1847088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00" b="1">
                <a:solidFill>
                  <a:srgbClr val="9766FF"/>
                </a:solidFill>
                <a:latin typeface="Aptos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258568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400" b="1">
                <a:solidFill>
                  <a:srgbClr val="F7F9FC"/>
                </a:solidFill>
                <a:latin typeface="Aptos Display"/>
              </a:rPr>
              <a:t>Spring Boot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688336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880" b="0">
                <a:solidFill>
                  <a:srgbClr val="A0AEC2"/>
                </a:solidFill>
                <a:latin typeface="Aptos"/>
              </a:rPr>
              <a:t>Security → Controller → Service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0" y="2487168"/>
            <a:ext cx="502920" cy="0"/>
          </a:xfrm>
          <a:prstGeom prst="line">
            <a:avLst/>
          </a:prstGeom>
          <a:ln w="21590">
            <a:solidFill>
              <a:srgbClr val="F5B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778240" y="1600200"/>
            <a:ext cx="2240280" cy="1783080"/>
          </a:xfrm>
          <a:prstGeom prst="roundRect">
            <a:avLst/>
          </a:prstGeom>
          <a:solidFill>
            <a:srgbClr val="19263A"/>
          </a:solidFill>
          <a:ln w="10160">
            <a:solidFill>
              <a:srgbClr val="F5B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06840" y="1847088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00" b="1">
                <a:solidFill>
                  <a:srgbClr val="F5B235"/>
                </a:solidFill>
                <a:latin typeface="Aptos"/>
              </a:rP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258568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400" b="1">
                <a:solidFill>
                  <a:srgbClr val="F7F9FC"/>
                </a:solidFill>
                <a:latin typeface="Aptos Display"/>
              </a:rPr>
              <a:t>PostgreSQL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68833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880" b="0">
                <a:solidFill>
                  <a:srgbClr val="A0AEC2"/>
                </a:solidFill>
                <a:latin typeface="Aptos"/>
              </a:rPr>
              <a:t>JPA • JSONB • ACID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77639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>
                <a:solidFill>
                  <a:srgbClr val="1CCD65"/>
                </a:solidFill>
                <a:latin typeface="Aptos"/>
              </a:rPr>
              <a:t>INTELLIGENCE + SERVICES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407408"/>
            <a:ext cx="1600200" cy="658368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50" b="1">
                <a:solidFill>
                  <a:srgbClr val="F7F9FC"/>
                </a:solidFill>
                <a:latin typeface="Aptos"/>
              </a:rPr>
              <a:t>Groq 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96311" y="4407408"/>
            <a:ext cx="1600200" cy="658368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96311" y="461772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50" b="1">
                <a:solidFill>
                  <a:srgbClr val="F7F9FC"/>
                </a:solidFill>
                <a:latin typeface="Aptos"/>
              </a:rPr>
              <a:t>Cashfree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2544" y="4407408"/>
            <a:ext cx="1600200" cy="658368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52544" y="461772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50" b="1">
                <a:solidFill>
                  <a:srgbClr val="F7F9FC"/>
                </a:solidFill>
                <a:latin typeface="Aptos"/>
              </a:rPr>
              <a:t>Google OAuth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4407408"/>
            <a:ext cx="1600200" cy="658368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08776" y="461772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50" b="1">
                <a:solidFill>
                  <a:srgbClr val="F7F9FC"/>
                </a:solidFill>
                <a:latin typeface="Aptos"/>
              </a:rPr>
              <a:t>WAQI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7" y="4407408"/>
            <a:ext cx="1600200" cy="658368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65007" y="461772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50" b="1">
                <a:solidFill>
                  <a:srgbClr val="F7F9FC"/>
                </a:solidFill>
                <a:latin typeface="Aptos"/>
              </a:rPr>
              <a:t>Nominatim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21239" y="4407408"/>
            <a:ext cx="1600200" cy="658368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21239" y="461772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50" b="1">
                <a:solidFill>
                  <a:srgbClr val="F7F9FC"/>
                </a:solidFill>
                <a:latin typeface="Aptos"/>
              </a:rPr>
              <a:t>Cloudinary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376672"/>
            <a:ext cx="10789920" cy="612648"/>
          </a:xfrm>
          <a:prstGeom prst="roundRect">
            <a:avLst/>
          </a:prstGeom>
          <a:solidFill>
            <a:srgbClr val="122D25"/>
          </a:solidFill>
          <a:ln w="10160">
            <a:solidFill>
              <a:srgbClr val="1CC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8" y="5559552"/>
            <a:ext cx="103784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50" b="1">
                <a:solidFill>
                  <a:srgbClr val="F7F9FC"/>
                </a:solidFill>
                <a:latin typeface="Aptos"/>
              </a:rPr>
              <a:t>SECURITY PIPELINE  •  rate limit → JWT filter → RBAC → validation → parameterized queries → audit logging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1">
                <a:solidFill>
                  <a:srgbClr val="A0AEC2"/>
                </a:solidFill>
                <a:latin typeface="Aptos"/>
              </a:rPr>
              <a:t>REAL ESTATE DUE DILIGENCE AGENT  •  TEAM 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8309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750" b="1">
                <a:solidFill>
                  <a:srgbClr val="A0AEC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80" b="1">
                <a:solidFill>
                  <a:srgbClr val="1CCD65"/>
                </a:solidFill>
                <a:latin typeface="Aptos"/>
              </a:rPr>
              <a:t>05 • HOW IT SOLVES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035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>
                <a:solidFill>
                  <a:srgbClr val="F7F9FC"/>
                </a:solidFill>
                <a:latin typeface="Aptos Display"/>
              </a:rPr>
              <a:t>From an address to a decision-ready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0">
                <a:solidFill>
                  <a:srgbClr val="A0AEC2"/>
                </a:solidFill>
                <a:latin typeface="Aptos"/>
              </a:rPr>
              <a:t>The platform compresses multiple verification stages into one observable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920240"/>
            <a:ext cx="1901952" cy="251460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94944" y="2103120"/>
            <a:ext cx="438912" cy="274320"/>
          </a:xfrm>
          <a:prstGeom prst="roundRect">
            <a:avLst/>
          </a:prstGeom>
          <a:solidFill>
            <a:srgbClr val="42C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2112263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651760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1">
                <a:solidFill>
                  <a:srgbClr val="F7F9FC"/>
                </a:solidFill>
                <a:latin typeface="Aptos Display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154680"/>
            <a:ext cx="1572768" cy="7498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40" b="0">
                <a:solidFill>
                  <a:srgbClr val="A0AEC2"/>
                </a:solidFill>
                <a:latin typeface="Aptos"/>
              </a:rPr>
              <a:t>Property address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0592" y="3163824"/>
            <a:ext cx="365760" cy="0"/>
          </a:xfrm>
          <a:prstGeom prst="line">
            <a:avLst/>
          </a:prstGeom>
          <a:ln w="21590">
            <a:solidFill>
              <a:srgbClr val="42C4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62072" y="1920240"/>
            <a:ext cx="1901952" cy="251460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26664" y="2103120"/>
            <a:ext cx="438912" cy="274320"/>
          </a:xfrm>
          <a:prstGeom prst="roundRect">
            <a:avLst/>
          </a:prstGeom>
          <a:solidFill>
            <a:srgbClr val="1CC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26664" y="2112263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651760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1">
                <a:solidFill>
                  <a:srgbClr val="F7F9FC"/>
                </a:solidFill>
                <a:latin typeface="Aptos Display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3154680"/>
            <a:ext cx="1572768" cy="7498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40" b="0">
                <a:solidFill>
                  <a:srgbClr val="A0AEC2"/>
                </a:solidFill>
                <a:latin typeface="Aptos"/>
              </a:rPr>
              <a:t>Ownership • tax • zoning • flood • environment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82312" y="3163824"/>
            <a:ext cx="365760" cy="0"/>
          </a:xfrm>
          <a:prstGeom prst="line">
            <a:avLst/>
          </a:prstGeom>
          <a:ln w="21590">
            <a:solidFill>
              <a:srgbClr val="1CC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93792" y="1920240"/>
            <a:ext cx="1901952" cy="251460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358383" y="2103120"/>
            <a:ext cx="438912" cy="274320"/>
          </a:xfrm>
          <a:prstGeom prst="roundRect">
            <a:avLst/>
          </a:prstGeom>
          <a:solidFill>
            <a:srgbClr val="F5B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58383" y="2112263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3" y="2651760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1">
                <a:solidFill>
                  <a:srgbClr val="F7F9FC"/>
                </a:solidFill>
                <a:latin typeface="Aptos Display"/>
              </a:rPr>
              <a:t>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3" y="3154680"/>
            <a:ext cx="1572768" cy="7498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40" b="0">
                <a:solidFill>
                  <a:srgbClr val="A0AEC2"/>
                </a:solidFill>
                <a:latin typeface="Aptos"/>
              </a:rPr>
              <a:t>Six weighted categories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14031" y="3163824"/>
            <a:ext cx="365761" cy="0"/>
          </a:xfrm>
          <a:prstGeom prst="line">
            <a:avLst/>
          </a:prstGeom>
          <a:ln w="21590">
            <a:solidFill>
              <a:srgbClr val="F5B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25511" y="1920240"/>
            <a:ext cx="1901952" cy="251460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690103" y="2103120"/>
            <a:ext cx="438912" cy="274320"/>
          </a:xfrm>
          <a:prstGeom prst="roundRect">
            <a:avLst/>
          </a:prstGeom>
          <a:solidFill>
            <a:srgbClr val="97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90103" y="2112263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3" y="2651760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1">
                <a:solidFill>
                  <a:srgbClr val="F7F9FC"/>
                </a:solidFill>
                <a:latin typeface="Aptos Display"/>
              </a:rPr>
              <a:t>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103" y="3154680"/>
            <a:ext cx="1572768" cy="7498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40" b="0">
                <a:solidFill>
                  <a:srgbClr val="A0AEC2"/>
                </a:solidFill>
                <a:latin typeface="Aptos"/>
              </a:rPr>
              <a:t>Summary • key findings • verdict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45751" y="3163824"/>
            <a:ext cx="365760" cy="0"/>
          </a:xfrm>
          <a:prstGeom prst="line">
            <a:avLst/>
          </a:prstGeom>
          <a:ln w="21590">
            <a:solidFill>
              <a:srgbClr val="97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57232" y="1920240"/>
            <a:ext cx="1901952" cy="251460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021824" y="2103120"/>
            <a:ext cx="438912" cy="274320"/>
          </a:xfrm>
          <a:prstGeom prst="roundRect">
            <a:avLst/>
          </a:prstGeom>
          <a:solidFill>
            <a:srgbClr val="42C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21824" y="2112263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21824" y="2651760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1">
                <a:solidFill>
                  <a:srgbClr val="F7F9FC"/>
                </a:solidFill>
                <a:latin typeface="Aptos Display"/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1824" y="3154680"/>
            <a:ext cx="1572768" cy="7498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40" b="0">
                <a:solidFill>
                  <a:srgbClr val="A0AEC2"/>
                </a:solidFill>
                <a:latin typeface="Aptos"/>
              </a:rPr>
              <a:t>PDF • Excel • history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919472"/>
            <a:ext cx="10652760" cy="749808"/>
          </a:xfrm>
          <a:prstGeom prst="roundRect">
            <a:avLst/>
          </a:prstGeom>
          <a:solidFill>
            <a:srgbClr val="19263A"/>
          </a:solidFill>
          <a:ln w="10160">
            <a:solidFill>
              <a:srgbClr val="1CC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51389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400" b="1">
                <a:solidFill>
                  <a:srgbClr val="1CCD65"/>
                </a:solidFill>
                <a:latin typeface="Aptos Display"/>
              </a:rPr>
              <a:t>BUY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1389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400" b="1">
                <a:solidFill>
                  <a:srgbClr val="F5B235"/>
                </a:solidFill>
                <a:latin typeface="Aptos Display"/>
              </a:rPr>
              <a:t>NEGOTIATE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51389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400" b="1">
                <a:solidFill>
                  <a:srgbClr val="EE525B"/>
                </a:solidFill>
                <a:latin typeface="Aptos Display"/>
              </a:rPr>
              <a:t>AVOID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138928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100" b="1">
                <a:solidFill>
                  <a:srgbClr val="F7F9FC"/>
                </a:solidFill>
                <a:latin typeface="Aptos"/>
              </a:rPr>
              <a:t>←  evidence-backed recommendation 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1">
                <a:solidFill>
                  <a:srgbClr val="A0AEC2"/>
                </a:solidFill>
                <a:latin typeface="Aptos"/>
              </a:rPr>
              <a:t>REAL ESTATE DUE DILIGENCE AGENT  •  TEAM 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48309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750" b="1">
                <a:solidFill>
                  <a:srgbClr val="A0AEC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80" b="1">
                <a:solidFill>
                  <a:srgbClr val="F5B235"/>
                </a:solidFill>
                <a:latin typeface="Aptos"/>
              </a:rPr>
              <a:t>06 • RISK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035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>
                <a:solidFill>
                  <a:srgbClr val="F7F9FC"/>
                </a:solidFill>
                <a:latin typeface="Aptos Display"/>
              </a:rPr>
              <a:t>Six dimensions. One explainable risk profile.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0">
                <a:solidFill>
                  <a:srgbClr val="A0AEC2"/>
                </a:solidFill>
                <a:latin typeface="Aptos"/>
              </a:rPr>
              <a:t>The implemented portfolio view monitors all properties across six weighted categories.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83664"/>
            <a:ext cx="7452360" cy="4096512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9b7dde81-0adc-4476-bff9-87e49e2de6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7452360" cy="40965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57031" y="1828800"/>
            <a:ext cx="3364992" cy="4096512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0496" y="213055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>
                <a:solidFill>
                  <a:srgbClr val="F5B235"/>
                </a:solidFill>
                <a:latin typeface="Aptos"/>
              </a:rPr>
              <a:t>WEIGHTED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60604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1">
                <a:solidFill>
                  <a:srgbClr val="F7F9FC"/>
                </a:solidFill>
                <a:latin typeface="Aptos"/>
              </a:rPr>
              <a:t>Flood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26060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950" b="1">
                <a:solidFill>
                  <a:srgbClr val="42C4F5"/>
                </a:solidFill>
                <a:latin typeface="Aptos"/>
              </a:rPr>
              <a:t>25%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0496" y="2871216"/>
            <a:ext cx="2468880" cy="45720"/>
          </a:xfrm>
          <a:prstGeom prst="rect">
            <a:avLst/>
          </a:prstGeom>
          <a:solidFill>
            <a:srgbClr val="35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40496" y="2871216"/>
            <a:ext cx="2468880" cy="45720"/>
          </a:xfrm>
          <a:prstGeom prst="rect">
            <a:avLst/>
          </a:prstGeom>
          <a:solidFill>
            <a:srgbClr val="42C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0496" y="3054096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1">
                <a:solidFill>
                  <a:srgbClr val="F7F9FC"/>
                </a:solidFill>
                <a:latin typeface="Aptos"/>
              </a:rPr>
              <a:t>Legal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3054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950" b="1">
                <a:solidFill>
                  <a:srgbClr val="9766FF"/>
                </a:solidFill>
                <a:latin typeface="Aptos"/>
              </a:rPr>
              <a:t>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0496" y="3319272"/>
            <a:ext cx="2468880" cy="45720"/>
          </a:xfrm>
          <a:prstGeom prst="rect">
            <a:avLst/>
          </a:prstGeom>
          <a:solidFill>
            <a:srgbClr val="35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40496" y="3319272"/>
            <a:ext cx="1975104" cy="45720"/>
          </a:xfrm>
          <a:prstGeom prst="rect">
            <a:avLst/>
          </a:prstGeom>
          <a:solidFill>
            <a:srgbClr val="97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0496" y="350215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1">
                <a:solidFill>
                  <a:srgbClr val="F7F9FC"/>
                </a:solidFill>
                <a:latin typeface="Aptos"/>
              </a:rPr>
              <a:t>Tax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350215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950" b="1">
                <a:solidFill>
                  <a:srgbClr val="F5B235"/>
                </a:solidFill>
                <a:latin typeface="Aptos"/>
              </a:rPr>
              <a:t>15%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0496" y="3767328"/>
            <a:ext cx="2468880" cy="45720"/>
          </a:xfrm>
          <a:prstGeom prst="rect">
            <a:avLst/>
          </a:prstGeom>
          <a:solidFill>
            <a:srgbClr val="35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40496" y="3767328"/>
            <a:ext cx="1481328" cy="45720"/>
          </a:xfrm>
          <a:prstGeom prst="rect">
            <a:avLst/>
          </a:prstGeom>
          <a:solidFill>
            <a:srgbClr val="F5B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40496" y="3950208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1">
                <a:solidFill>
                  <a:srgbClr val="F7F9FC"/>
                </a:solidFill>
                <a:latin typeface="Aptos"/>
              </a:rPr>
              <a:t>Zoning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395020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950" b="1">
                <a:solidFill>
                  <a:srgbClr val="42C4F5"/>
                </a:solidFill>
                <a:latin typeface="Aptos"/>
              </a:rPr>
              <a:t>15%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0496" y="4215384"/>
            <a:ext cx="2468880" cy="45720"/>
          </a:xfrm>
          <a:prstGeom prst="rect">
            <a:avLst/>
          </a:prstGeom>
          <a:solidFill>
            <a:srgbClr val="35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540496" y="4215384"/>
            <a:ext cx="1481328" cy="45720"/>
          </a:xfrm>
          <a:prstGeom prst="rect">
            <a:avLst/>
          </a:prstGeom>
          <a:solidFill>
            <a:srgbClr val="42C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40496" y="4398264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1">
                <a:solidFill>
                  <a:srgbClr val="F7F9FC"/>
                </a:solidFill>
                <a:latin typeface="Aptos"/>
              </a:rPr>
              <a:t>Environmental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52760" y="439826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950" b="1">
                <a:solidFill>
                  <a:srgbClr val="1CCD65"/>
                </a:solidFill>
                <a:latin typeface="Aptos"/>
              </a:rPr>
              <a:t>15%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0496" y="4663440"/>
            <a:ext cx="2468880" cy="45720"/>
          </a:xfrm>
          <a:prstGeom prst="rect">
            <a:avLst/>
          </a:prstGeom>
          <a:solidFill>
            <a:srgbClr val="35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540496" y="4663440"/>
            <a:ext cx="1481328" cy="45720"/>
          </a:xfrm>
          <a:prstGeom prst="rect">
            <a:avLst/>
          </a:prstGeom>
          <a:solidFill>
            <a:srgbClr val="1CC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40496" y="484632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1">
                <a:solidFill>
                  <a:srgbClr val="F7F9FC"/>
                </a:solidFill>
                <a:latin typeface="Aptos"/>
              </a:rPr>
              <a:t>Market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484632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950" b="1">
                <a:solidFill>
                  <a:srgbClr val="EE525B"/>
                </a:solidFill>
                <a:latin typeface="Aptos"/>
              </a:rPr>
              <a:t>10%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0496" y="5111496"/>
            <a:ext cx="2468880" cy="45720"/>
          </a:xfrm>
          <a:prstGeom prst="rect">
            <a:avLst/>
          </a:prstGeom>
          <a:solidFill>
            <a:srgbClr val="35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40496" y="5111496"/>
            <a:ext cx="987552" cy="45720"/>
          </a:xfrm>
          <a:prstGeom prst="rect">
            <a:avLst/>
          </a:prstGeom>
          <a:solidFill>
            <a:srgbClr val="EE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0496" y="544068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>
                <a:solidFill>
                  <a:srgbClr val="A0AEC2"/>
                </a:solidFill>
                <a:latin typeface="Aptos"/>
              </a:rPr>
              <a:t>Risk bands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0496" y="5669280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19" b="1">
                <a:solidFill>
                  <a:srgbClr val="F7F9FC"/>
                </a:solidFill>
                <a:latin typeface="Aptos"/>
              </a:rPr>
              <a:t>LOW ≤25   •   MEDIUM ≤50   •   HIGH ≤75   •   CRITICAL &gt;75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1">
                <a:solidFill>
                  <a:srgbClr val="A0AEC2"/>
                </a:solidFill>
                <a:latin typeface="Aptos"/>
              </a:rPr>
              <a:t>REAL ESTATE DUE DILIGENCE AGENT  •  TEAM 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8309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750" b="1">
                <a:solidFill>
                  <a:srgbClr val="A0AEC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80" b="1">
                <a:solidFill>
                  <a:srgbClr val="9766FF"/>
                </a:solidFill>
                <a:latin typeface="Aptos"/>
              </a:rPr>
              <a:t>07 • AI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035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>
                <a:solidFill>
                  <a:srgbClr val="F7F9FC"/>
                </a:solidFill>
                <a:latin typeface="Aptos Display"/>
              </a:rPr>
              <a:t>AI is layered on top of property context — not used as a replacement for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0">
                <a:solidFill>
                  <a:srgbClr val="A0AEC2"/>
                </a:solidFill>
                <a:latin typeface="Aptos"/>
              </a:rPr>
              <a:t>Groq powers the property assistant and executive summaries; live responses stream through SSE.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4617720" cy="416052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2103120"/>
            <a:ext cx="1417320" cy="274320"/>
          </a:xfrm>
          <a:prstGeom prst="roundRect">
            <a:avLst/>
          </a:prstGeom>
          <a:solidFill>
            <a:srgbClr val="97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12263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PROPERTY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70048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000" b="1">
                <a:solidFill>
                  <a:srgbClr val="F7F9FC"/>
                </a:solidFill>
                <a:latin typeface="Aptos Display"/>
              </a:rPr>
              <a:t>“What should I verify
before buying this property?”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657600"/>
            <a:ext cx="3520440" cy="822960"/>
          </a:xfrm>
          <a:prstGeom prst="roundRect">
            <a:avLst/>
          </a:prstGeom>
          <a:solidFill>
            <a:srgbClr val="0B1422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88620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>
                <a:solidFill>
                  <a:srgbClr val="A0AEC2"/>
                </a:solidFill>
                <a:latin typeface="Aptos"/>
              </a:rPr>
              <a:t>Checks property context, risk history
and available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4617720"/>
            <a:ext cx="2880360" cy="713232"/>
          </a:xfrm>
          <a:prstGeom prst="roundRect">
            <a:avLst/>
          </a:prstGeom>
          <a:solidFill>
            <a:srgbClr val="224057"/>
          </a:solidFill>
          <a:ln w="10160">
            <a:solidFill>
              <a:srgbClr val="42C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482803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50" b="1">
                <a:solidFill>
                  <a:srgbClr val="F7F9FC"/>
                </a:solidFill>
                <a:latin typeface="Aptos"/>
              </a:rPr>
              <a:t>Streams response in real time via SSE.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874519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300" b="1">
                <a:solidFill>
                  <a:srgbClr val="F7F9FC"/>
                </a:solidFill>
                <a:latin typeface="Aptos Display"/>
              </a:rPr>
              <a:t>Executive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450592"/>
            <a:ext cx="512064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0">
                <a:solidFill>
                  <a:srgbClr val="A0AEC2"/>
                </a:solidFill>
                <a:latin typeface="Aptos"/>
              </a:rPr>
              <a:t>The report closes the loop with a machine-generated headline, key findings, recommendation and verdict.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3474720"/>
            <a:ext cx="1645920" cy="1115568"/>
          </a:xfrm>
          <a:prstGeom prst="roundRect">
            <a:avLst/>
          </a:prstGeom>
          <a:solidFill>
            <a:srgbClr val="19263A"/>
          </a:solidFill>
          <a:ln w="10160">
            <a:solidFill>
              <a:srgbClr val="1CC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0" y="370332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00" b="1">
                <a:solidFill>
                  <a:srgbClr val="1CCD65"/>
                </a:solidFill>
                <a:latin typeface="Aptos"/>
              </a:rPr>
              <a:t>PROCEED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40965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300" b="1">
                <a:solidFill>
                  <a:srgbClr val="F7F9FC"/>
                </a:solidFill>
                <a:latin typeface="Aptos Display"/>
              </a:rPr>
              <a:t>&lt; 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16952" y="3474720"/>
            <a:ext cx="1645920" cy="1115568"/>
          </a:xfrm>
          <a:prstGeom prst="roundRect">
            <a:avLst/>
          </a:prstGeom>
          <a:solidFill>
            <a:srgbClr val="19263A"/>
          </a:solidFill>
          <a:ln w="10160">
            <a:solidFill>
              <a:srgbClr val="F5B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16952" y="370332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00" b="1">
                <a:solidFill>
                  <a:srgbClr val="F5B235"/>
                </a:solidFill>
                <a:latin typeface="Aptos"/>
              </a:rPr>
              <a:t>CAUTION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40965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300" b="1">
                <a:solidFill>
                  <a:srgbClr val="F7F9FC"/>
                </a:solidFill>
                <a:latin typeface="Aptos Display"/>
              </a:rPr>
              <a:t>40–70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18904" y="3474720"/>
            <a:ext cx="1645920" cy="1115568"/>
          </a:xfrm>
          <a:prstGeom prst="roundRect">
            <a:avLst/>
          </a:prstGeom>
          <a:solidFill>
            <a:srgbClr val="19263A"/>
          </a:solidFill>
          <a:ln w="10160">
            <a:solidFill>
              <a:srgbClr val="EE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18904" y="370332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00" b="1">
                <a:solidFill>
                  <a:srgbClr val="EE525B"/>
                </a:solidFill>
                <a:latin typeface="Aptos"/>
              </a:rPr>
              <a:t>HIGH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8904" y="40965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300" b="1">
                <a:solidFill>
                  <a:srgbClr val="F7F9FC"/>
                </a:solidFill>
                <a:latin typeface="Aptos Display"/>
              </a:rPr>
              <a:t>&gt; 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5074920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0">
                <a:solidFill>
                  <a:srgbClr val="A0AEC2"/>
                </a:solidFill>
                <a:latin typeface="Aptos"/>
              </a:rPr>
              <a:t>Groq  •  Llama 3.3 70B  •  SSE  •  property context  •  last 10 messages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1">
                <a:solidFill>
                  <a:srgbClr val="A0AEC2"/>
                </a:solidFill>
                <a:latin typeface="Aptos"/>
              </a:rPr>
              <a:t>REAL ESTATE DUE DILIGENCE AGENT  •  TEAM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8309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750" b="1">
                <a:solidFill>
                  <a:srgbClr val="A0AEC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80" b="1">
                <a:solidFill>
                  <a:srgbClr val="1CCD65"/>
                </a:solidFill>
                <a:latin typeface="Aptos"/>
              </a:rPr>
              <a:t>08 •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035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>
                <a:solidFill>
                  <a:srgbClr val="F7F9FC"/>
                </a:solidFill>
                <a:latin typeface="Aptos Display"/>
              </a:rPr>
              <a:t>A working interface across portfolio, discovery and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0">
                <a:solidFill>
                  <a:srgbClr val="A0AEC2"/>
                </a:solidFill>
                <a:latin typeface="Aptos"/>
              </a:rPr>
              <a:t>Actual screens from the deployed project are used as evidence of the implementation.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883664"/>
            <a:ext cx="3520440" cy="306324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4de35778-6a68-4fda-99a6-b8baba1e52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3520440" cy="3063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79976" y="1883664"/>
            <a:ext cx="3520440" cy="306324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6d405d6a-2ae3-44d9-9403-d07d6b30d3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828800"/>
            <a:ext cx="3520440" cy="30632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29015" y="1883664"/>
            <a:ext cx="3520440" cy="306324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ce7f015-96af-41ac-b07b-432697db54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828800"/>
            <a:ext cx="3520440" cy="3063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9808" y="1993392"/>
            <a:ext cx="1325880" cy="274320"/>
          </a:xfrm>
          <a:prstGeom prst="roundRect">
            <a:avLst/>
          </a:prstGeom>
          <a:solidFill>
            <a:srgbClr val="1CC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002536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AUTHENTICATION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1993392"/>
            <a:ext cx="1097280" cy="274320"/>
          </a:xfrm>
          <a:prstGeom prst="roundRect">
            <a:avLst/>
          </a:prstGeom>
          <a:solidFill>
            <a:srgbClr val="42C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8848" y="200253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1993392"/>
            <a:ext cx="1325880" cy="274320"/>
          </a:xfrm>
          <a:prstGeom prst="roundRect">
            <a:avLst/>
          </a:prstGeom>
          <a:solidFill>
            <a:srgbClr val="97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002536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PROPERTY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38928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000" b="1">
                <a:solidFill>
                  <a:srgbClr val="F7F9FC"/>
                </a:solidFill>
                <a:latin typeface="Aptos"/>
              </a:rPr>
              <a:t>Secure sign-in + Google OAuth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513892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000" b="1">
                <a:solidFill>
                  <a:srgbClr val="F7F9FC"/>
                </a:solidFill>
                <a:latin typeface="Aptos"/>
              </a:rPr>
              <a:t>Portfolio value • verification • AQI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513892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000" b="1">
                <a:solidFill>
                  <a:srgbClr val="F7F9FC"/>
                </a:solidFill>
                <a:latin typeface="Aptos"/>
              </a:rPr>
              <a:t>Search • filters • property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1">
                <a:solidFill>
                  <a:srgbClr val="A0AEC2"/>
                </a:solidFill>
                <a:latin typeface="Aptos"/>
              </a:rPr>
              <a:t>REAL ESTATE DUE DILIGENCE AGENT  •  TEAM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8309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750" b="1">
                <a:solidFill>
                  <a:srgbClr val="A0AEC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80" b="1">
                <a:solidFill>
                  <a:srgbClr val="42C4F5"/>
                </a:solidFill>
                <a:latin typeface="Aptos"/>
              </a:rPr>
              <a:t>09 • DECISION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035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>
                <a:solidFill>
                  <a:srgbClr val="F7F9FC"/>
                </a:solidFill>
                <a:latin typeface="Aptos Display"/>
              </a:rPr>
              <a:t>Evidence becomes a professional, exportable deliverable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0">
                <a:solidFill>
                  <a:srgbClr val="A0AEC2"/>
                </a:solidFill>
                <a:latin typeface="Aptos"/>
              </a:rPr>
              <a:t>The actual generated report includes risk scoring, executive summary, property overview, analysis and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83664"/>
            <a:ext cx="2743200" cy="425196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5cb4eb2e-37c1-4fd0-8d5d-1ab0937dcc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2743200" cy="4251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02736" y="1883664"/>
            <a:ext cx="3886200" cy="425196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8454caa-e4b9-4b99-9ccb-5d69387eff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828800"/>
            <a:ext cx="3886200" cy="4251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63255" y="1883664"/>
            <a:ext cx="3886200" cy="233172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9b7dde81-0adc-4476-bff9-87e49e2de6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1828800"/>
            <a:ext cx="3886200" cy="2331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26679" y="4370832"/>
            <a:ext cx="3886200" cy="1709928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4626864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>
                <a:solidFill>
                  <a:srgbClr val="1CCD65"/>
                </a:solidFill>
                <a:latin typeface="Aptos"/>
              </a:rPr>
              <a:t>REPORT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501091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400" b="1">
                <a:solidFill>
                  <a:srgbClr val="F7F9FC"/>
                </a:solidFill>
                <a:latin typeface="Aptos Display"/>
              </a:rPr>
              <a:t>PDF • Excel • version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5431536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19" b="0">
                <a:solidFill>
                  <a:srgbClr val="A0AEC2"/>
                </a:solidFill>
                <a:latin typeface="Aptos"/>
              </a:rPr>
              <a:t>8 sections • AI summary • recommendations • risk breakdown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1">
                <a:solidFill>
                  <a:srgbClr val="A0AEC2"/>
                </a:solidFill>
                <a:latin typeface="Aptos"/>
              </a:rPr>
              <a:t>REAL ESTATE DUE DILIGENCE AGENT  •  TEAM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8309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750" b="1">
                <a:solidFill>
                  <a:srgbClr val="A0AEC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80" b="1">
                <a:solidFill>
                  <a:srgbClr val="1CCD65"/>
                </a:solidFill>
                <a:latin typeface="Aptos"/>
              </a:rPr>
              <a:t>10 • SECURITY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035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>
                <a:solidFill>
                  <a:srgbClr val="F7F9FC"/>
                </a:solidFill>
                <a:latin typeface="Aptos Display"/>
              </a:rPr>
              <a:t>Secure by default, role-aware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0">
                <a:solidFill>
                  <a:srgbClr val="A0AEC2"/>
                </a:solidFill>
                <a:latin typeface="Aptos"/>
              </a:rPr>
              <a:t>Five role types and layered controls protect sensitive property and user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074920" cy="896112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8952" y="2029968"/>
            <a:ext cx="914400" cy="274320"/>
          </a:xfrm>
          <a:prstGeom prst="roundRect">
            <a:avLst/>
          </a:prstGeom>
          <a:solidFill>
            <a:srgbClr val="1CC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039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BUYER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2996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1">
                <a:solidFill>
                  <a:srgbClr val="F7F9FC"/>
                </a:solidFill>
                <a:latin typeface="Aptos"/>
              </a:rPr>
              <a:t>Portfolio • search • risk •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5074920" cy="896112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91072" y="2029968"/>
            <a:ext cx="914400" cy="274320"/>
          </a:xfrm>
          <a:prstGeom prst="roundRect">
            <a:avLst/>
          </a:prstGeom>
          <a:solidFill>
            <a:srgbClr val="42C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1072" y="2039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02996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1">
                <a:solidFill>
                  <a:srgbClr val="F7F9FC"/>
                </a:solidFill>
                <a:latin typeface="Aptos"/>
              </a:rPr>
              <a:t>Buyer capabilities + report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71800"/>
            <a:ext cx="5074920" cy="896112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58952" y="3172968"/>
            <a:ext cx="914400" cy="274320"/>
          </a:xfrm>
          <a:prstGeom prst="roundRect">
            <a:avLst/>
          </a:prstGeom>
          <a:solidFill>
            <a:srgbClr val="97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3182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LEGAL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17296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1">
                <a:solidFill>
                  <a:srgbClr val="F7F9FC"/>
                </a:solidFill>
                <a:latin typeface="Aptos"/>
              </a:rPr>
              <a:t>Report history • audit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971800"/>
            <a:ext cx="5074920" cy="896112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91072" y="3172968"/>
            <a:ext cx="914400" cy="274320"/>
          </a:xfrm>
          <a:prstGeom prst="roundRect">
            <a:avLst/>
          </a:prstGeom>
          <a:solidFill>
            <a:srgbClr val="F5B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1072" y="3182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FINANCIAL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17296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1">
                <a:solidFill>
                  <a:srgbClr val="F7F9FC"/>
                </a:solidFill>
                <a:latin typeface="Aptos"/>
              </a:rPr>
              <a:t>Risk data + exports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64992" y="4133087"/>
            <a:ext cx="5074920" cy="896112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529584" y="4334255"/>
            <a:ext cx="914400" cy="274320"/>
          </a:xfrm>
          <a:prstGeom prst="roundRect">
            <a:avLst/>
          </a:prstGeom>
          <a:solidFill>
            <a:srgbClr val="EE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29584" y="434339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4334255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1">
                <a:solidFill>
                  <a:srgbClr val="F7F9FC"/>
                </a:solidFill>
                <a:latin typeface="Aptos"/>
              </a:rPr>
              <a:t>Users • analytics • audit • health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94960"/>
            <a:ext cx="10835640" cy="603504"/>
          </a:xfrm>
          <a:prstGeom prst="roundRect">
            <a:avLst/>
          </a:prstGeom>
          <a:solidFill>
            <a:srgbClr val="19263A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577840"/>
            <a:ext cx="104241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19" b="1">
                <a:solidFill>
                  <a:srgbClr val="F7F9FC"/>
                </a:solidFill>
                <a:latin typeface="Aptos"/>
              </a:rPr>
              <a:t>JWT  •  BCrypt  •  OTP  •  Bucket4j  •  Jakarta Validation  •  Parameterized JPA  •  Audit Logs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1">
                <a:solidFill>
                  <a:srgbClr val="A0AEC2"/>
                </a:solidFill>
                <a:latin typeface="Aptos"/>
              </a:rPr>
              <a:t>REAL ESTATE DUE DILIGENCE AGENT  •  TEAM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8309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750" b="1">
                <a:solidFill>
                  <a:srgbClr val="A0AEC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80" b="1">
                <a:solidFill>
                  <a:srgbClr val="42C4F5"/>
                </a:solidFill>
                <a:latin typeface="Aptos"/>
              </a:rPr>
              <a:t>11 • ENGINEERING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035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>
                <a:solidFill>
                  <a:srgbClr val="F7F9FC"/>
                </a:solidFill>
                <a:latin typeface="Aptos Display"/>
              </a:rPr>
              <a:t>Built to be tested, deployed and maintained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0">
                <a:solidFill>
                  <a:srgbClr val="A0AEC2"/>
                </a:solidFill>
                <a:latin typeface="Aptos"/>
              </a:rPr>
              <a:t>The project documentation records automated tests and reproducible cloud deployment configuration.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423160" cy="114300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2500" b="1">
                <a:solidFill>
                  <a:srgbClr val="1CCD65"/>
                </a:solidFill>
                <a:latin typeface="Aptos Display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78608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850" b="1">
                <a:solidFill>
                  <a:srgbClr val="A0AEC2"/>
                </a:solidFill>
                <a:latin typeface="Aptos"/>
              </a:rPr>
              <a:t>backend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423160" cy="114300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205740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2500" b="1">
                <a:solidFill>
                  <a:srgbClr val="9766FF"/>
                </a:solidFill>
                <a:latin typeface="Aptos Display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78608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850" b="1">
                <a:solidFill>
                  <a:srgbClr val="A0AEC2"/>
                </a:solidFill>
                <a:latin typeface="Aptos"/>
              </a:rPr>
              <a:t>frontend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2423160" cy="114300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05740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2500" b="1">
                <a:solidFill>
                  <a:srgbClr val="0FA673"/>
                </a:solidFill>
                <a:latin typeface="Aptos Display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578608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850" b="1">
                <a:solidFill>
                  <a:srgbClr val="A0AEC2"/>
                </a:solidFill>
                <a:latin typeface="Aptos"/>
              </a:rPr>
              <a:t>documented 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828800"/>
            <a:ext cx="2423160" cy="114300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205740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2500" b="1">
                <a:solidFill>
                  <a:srgbClr val="42C4F5"/>
                </a:solidFill>
                <a:latin typeface="Aptos Display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578608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850" b="1">
                <a:solidFill>
                  <a:srgbClr val="A0AEC2"/>
                </a:solidFill>
                <a:latin typeface="Aptos"/>
              </a:rPr>
              <a:t>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0156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>
                <a:solidFill>
                  <a:srgbClr val="1CCD65"/>
                </a:solidFill>
                <a:latin typeface="Aptos"/>
              </a:rPr>
              <a:t>DEPLOYMENT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22191"/>
            <a:ext cx="2148840" cy="1143000"/>
          </a:xfrm>
          <a:prstGeom prst="roundRect">
            <a:avLst/>
          </a:prstGeom>
          <a:solidFill>
            <a:srgbClr val="19263A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041648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100" b="1">
                <a:solidFill>
                  <a:srgbClr val="F7F9FC"/>
                </a:solidFill>
                <a:latin typeface="Aptos Display"/>
              </a:rPr>
              <a:t>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07408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850" b="0">
                <a:solidFill>
                  <a:srgbClr val="A0AEC2"/>
                </a:solidFill>
                <a:latin typeface="Aptos"/>
              </a:rPr>
              <a:t>CI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62072" y="4389120"/>
            <a:ext cx="475488" cy="0"/>
          </a:xfrm>
          <a:prstGeom prst="line">
            <a:avLst/>
          </a:prstGeom>
          <a:ln w="21590">
            <a:solidFill>
              <a:srgbClr val="1CC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29000" y="3822191"/>
            <a:ext cx="2148840" cy="1143000"/>
          </a:xfrm>
          <a:prstGeom prst="roundRect">
            <a:avLst/>
          </a:prstGeom>
          <a:solidFill>
            <a:srgbClr val="19263A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66160" y="4041648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100" b="1">
                <a:solidFill>
                  <a:srgbClr val="F7F9FC"/>
                </a:solidFill>
                <a:latin typeface="Aptos Display"/>
              </a:rPr>
              <a:t>Vercel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407408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850" b="0">
                <a:solidFill>
                  <a:srgbClr val="A0AEC2"/>
                </a:solidFill>
                <a:latin typeface="Aptos"/>
              </a:rPr>
              <a:t>Next.js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05272" y="4389120"/>
            <a:ext cx="475488" cy="0"/>
          </a:xfrm>
          <a:prstGeom prst="line">
            <a:avLst/>
          </a:prstGeom>
          <a:ln w="21590">
            <a:solidFill>
              <a:srgbClr val="1CC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72200" y="3822191"/>
            <a:ext cx="2148840" cy="1143000"/>
          </a:xfrm>
          <a:prstGeom prst="roundRect">
            <a:avLst/>
          </a:prstGeom>
          <a:solidFill>
            <a:srgbClr val="19263A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4041648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100" b="1">
                <a:solidFill>
                  <a:srgbClr val="F7F9FC"/>
                </a:solidFill>
                <a:latin typeface="Aptos Display"/>
              </a:rPr>
              <a:t>Render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407408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850" b="0">
                <a:solidFill>
                  <a:srgbClr val="A0AEC2"/>
                </a:solidFill>
                <a:latin typeface="Aptos"/>
              </a:rPr>
              <a:t>Spring Boot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48471" y="4389120"/>
            <a:ext cx="475489" cy="0"/>
          </a:xfrm>
          <a:prstGeom prst="line">
            <a:avLst/>
          </a:prstGeom>
          <a:ln w="21590">
            <a:solidFill>
              <a:srgbClr val="1CC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915400" y="3822191"/>
            <a:ext cx="2148840" cy="1143000"/>
          </a:xfrm>
          <a:prstGeom prst="roundRect">
            <a:avLst/>
          </a:prstGeom>
          <a:solidFill>
            <a:srgbClr val="19263A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52560" y="4041648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100" b="1">
                <a:solidFill>
                  <a:srgbClr val="F7F9FC"/>
                </a:solidFill>
                <a:latin typeface="Aptos Display"/>
              </a:rPr>
              <a:t>Postgres / Neon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407408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850" b="0">
                <a:solidFill>
                  <a:srgbClr val="A0AEC2"/>
                </a:solidFill>
                <a:latin typeface="Aptos"/>
              </a:rP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4132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19" b="0">
                <a:solidFill>
                  <a:srgbClr val="A0AEC2"/>
                </a:solidFill>
                <a:latin typeface="Aptos"/>
              </a:rPr>
              <a:t>Dockerfiles • docker-compose • render.yaml • vercel.json • JaCoCo • Vitest / Testing Library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1">
                <a:solidFill>
                  <a:srgbClr val="A0AEC2"/>
                </a:solidFill>
                <a:latin typeface="Aptos"/>
              </a:rPr>
              <a:t>REAL ESTATE DUE DILIGENCE AGENT  •  TEAM 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8309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750" b="1">
                <a:solidFill>
                  <a:srgbClr val="A0AEC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80" b="1">
                <a:solidFill>
                  <a:srgbClr val="F5B235"/>
                </a:solidFill>
                <a:latin typeface="Aptos"/>
              </a:rPr>
              <a:t>12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035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>
                <a:solidFill>
                  <a:srgbClr val="F7F9FC"/>
                </a:solidFill>
                <a:latin typeface="Aptos Display"/>
              </a:rPr>
              <a:t>Where the platform goes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0">
                <a:solidFill>
                  <a:srgbClr val="A0AEC2"/>
                </a:solidFill>
                <a:latin typeface="Aptos"/>
              </a:rPr>
              <a:t>The strongest future gains come from deeper verification data and richer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3383280" cy="128016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>
                <a:solidFill>
                  <a:srgbClr val="42C4F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029967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1">
                <a:solidFill>
                  <a:srgbClr val="F7F9FC"/>
                </a:solidFill>
                <a:latin typeface="Aptos Display"/>
              </a:rPr>
              <a:t>DOCUMENT OCR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9631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19" b="0">
                <a:solidFill>
                  <a:srgbClr val="A0AEC2"/>
                </a:solidFill>
                <a:latin typeface="Aptos"/>
              </a:rPr>
              <a:t>Sale deeds + encumbrance certificates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74519"/>
            <a:ext cx="3383280" cy="128016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205740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>
                <a:solidFill>
                  <a:srgbClr val="1CCD65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029967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1">
                <a:solidFill>
                  <a:srgbClr val="F7F9FC"/>
                </a:solidFill>
                <a:latin typeface="Aptos Display"/>
              </a:rPr>
              <a:t>GOVERNMENT LAND 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9631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19" b="0">
                <a:solidFill>
                  <a:srgbClr val="A0AEC2"/>
                </a:solidFill>
                <a:latin typeface="Aptos"/>
              </a:rPr>
              <a:t>Real ownership + encumbrance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74519"/>
            <a:ext cx="3383280" cy="128016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205740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>
                <a:solidFill>
                  <a:srgbClr val="9766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2029967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1">
                <a:solidFill>
                  <a:srgbClr val="F7F9FC"/>
                </a:solidFill>
                <a:latin typeface="Aptos Display"/>
              </a:rPr>
              <a:t>MOBILE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49631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19" b="0">
                <a:solidFill>
                  <a:srgbClr val="A0AEC2"/>
                </a:solidFill>
                <a:latin typeface="Aptos"/>
              </a:rPr>
              <a:t>React Native using the same API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74720"/>
            <a:ext cx="3383280" cy="128016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>
                <a:solidFill>
                  <a:srgbClr val="F5B235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3630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1">
                <a:solidFill>
                  <a:srgbClr val="F7F9FC"/>
                </a:solidFill>
                <a:latin typeface="Aptos Display"/>
              </a:rPr>
              <a:t>ADVANCED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96511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19" b="0">
                <a:solidFill>
                  <a:srgbClr val="A0AEC2"/>
                </a:solidFill>
                <a:latin typeface="Aptos"/>
              </a:rPr>
              <a:t>Price prediction + fraud clustering + heatmaps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474720"/>
            <a:ext cx="3383280" cy="128016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365760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>
                <a:solidFill>
                  <a:srgbClr val="42C4F5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3630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1">
                <a:solidFill>
                  <a:srgbClr val="F7F9FC"/>
                </a:solidFill>
                <a:latin typeface="Aptos Display"/>
              </a:rPr>
              <a:t>REAL-TIME PUSH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96511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19" b="0">
                <a:solidFill>
                  <a:srgbClr val="A0AEC2"/>
                </a:solidFill>
                <a:latin typeface="Aptos"/>
              </a:rPr>
              <a:t>WebSockets for richer live updates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474720"/>
            <a:ext cx="3383280" cy="128016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3879" y="365760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>
                <a:solidFill>
                  <a:srgbClr val="9766FF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9368" y="3630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1">
                <a:solidFill>
                  <a:srgbClr val="F7F9FC"/>
                </a:solidFill>
                <a:latin typeface="Aptos Display"/>
              </a:rPr>
              <a:t>BLOCKCHAIN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096511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19" b="0">
                <a:solidFill>
                  <a:srgbClr val="A0AEC2"/>
                </a:solidFill>
                <a:latin typeface="Aptos"/>
              </a:rPr>
              <a:t>Tamper-proof title-chain exploration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413248"/>
            <a:ext cx="10972800" cy="566928"/>
          </a:xfrm>
          <a:prstGeom prst="roundRect">
            <a:avLst/>
          </a:prstGeom>
          <a:solidFill>
            <a:srgbClr val="172B24"/>
          </a:solidFill>
          <a:ln w="10160">
            <a:solidFill>
              <a:srgbClr val="1CC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586984"/>
            <a:ext cx="105156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50" b="1">
                <a:solidFill>
                  <a:srgbClr val="F7F9FC"/>
                </a:solidFill>
                <a:latin typeface="Aptos"/>
              </a:rPr>
              <a:t>BIGGEST ACCURACY UNLOCK  •  Government land-record integration for real ownership and encumbrance data.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1">
                <a:solidFill>
                  <a:srgbClr val="A0AEC2"/>
                </a:solidFill>
                <a:latin typeface="Aptos"/>
              </a:rPr>
              <a:t>REAL ESTATE DUE DILIGENCE AGENT  •  TEAM 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8309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750" b="1">
                <a:solidFill>
                  <a:srgbClr val="A0AEC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80" b="1">
                <a:solidFill>
                  <a:srgbClr val="1CCD65"/>
                </a:solidFill>
                <a:latin typeface="Aptos"/>
              </a:rPr>
              <a:t>13 • TEAM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035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>
                <a:solidFill>
                  <a:srgbClr val="F7F9FC"/>
                </a:solidFill>
                <a:latin typeface="Aptos Display"/>
              </a:rPr>
              <a:t>The team behind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50" b="0">
                <a:solidFill>
                  <a:srgbClr val="A0AEC2"/>
                </a:solidFill>
                <a:latin typeface="Aptos"/>
              </a:rPr>
              <a:t>Presentation video link intentionally left blank for the final submission.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697480" cy="50292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1938528"/>
            <a:ext cx="384048" cy="274320"/>
          </a:xfrm>
          <a:prstGeom prst="roundRect">
            <a:avLst/>
          </a:prstGeom>
          <a:solidFill>
            <a:srgbClr val="1CC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94767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965960"/>
            <a:ext cx="1874519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80" b="1">
                <a:solidFill>
                  <a:srgbClr val="F7F9FC"/>
                </a:solidFill>
                <a:latin typeface="Aptos"/>
              </a:rPr>
              <a:t>A. Jabbar Patel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828800"/>
            <a:ext cx="2697480" cy="50292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21608" y="1938528"/>
            <a:ext cx="384048" cy="274320"/>
          </a:xfrm>
          <a:prstGeom prst="roundRect">
            <a:avLst/>
          </a:prstGeom>
          <a:solidFill>
            <a:srgbClr val="97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194767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1965960"/>
            <a:ext cx="1874519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950" b="1">
                <a:solidFill>
                  <a:srgbClr val="F7F9FC"/>
                </a:solidFill>
                <a:latin typeface="Aptos"/>
              </a:rPr>
              <a:t>Akshaya</a:t>
            </a:r>
            <a:r>
              <a:rPr sz="950" b="1">
                <a:solidFill>
                  <a:srgbClr val="F7F9FC"/>
                </a:solidFill>
                <a:latin typeface="Aptos"/>
              </a:rPr>
              <a:t> 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87168"/>
            <a:ext cx="2697480" cy="50292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9808" y="2596896"/>
            <a:ext cx="384048" cy="274320"/>
          </a:xfrm>
          <a:prstGeom prst="roundRect">
            <a:avLst/>
          </a:prstGeom>
          <a:solidFill>
            <a:srgbClr val="1CC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606039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2624327"/>
            <a:ext cx="1874519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80" b="1">
                <a:solidFill>
                  <a:srgbClr val="F7F9FC"/>
                </a:solidFill>
                <a:latin typeface="Aptos"/>
              </a:rPr>
              <a:t>Bhavana Bhat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2487168"/>
            <a:ext cx="2697480" cy="50292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721608" y="2596896"/>
            <a:ext cx="384048" cy="274320"/>
          </a:xfrm>
          <a:prstGeom prst="roundRect">
            <a:avLst/>
          </a:prstGeom>
          <a:solidFill>
            <a:srgbClr val="97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21608" y="2606039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3672" y="2624327"/>
            <a:ext cx="1874519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80" b="1">
                <a:solidFill>
                  <a:srgbClr val="F7F9FC"/>
                </a:solidFill>
                <a:latin typeface="Aptos"/>
              </a:rPr>
              <a:t>Lokesh Chowdary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145536"/>
            <a:ext cx="2697480" cy="50292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49808" y="3255264"/>
            <a:ext cx="384048" cy="274320"/>
          </a:xfrm>
          <a:prstGeom prst="roundRect">
            <a:avLst/>
          </a:prstGeom>
          <a:solidFill>
            <a:srgbClr val="1CC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326440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3282696"/>
            <a:ext cx="1874519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80" b="1">
                <a:solidFill>
                  <a:srgbClr val="F7F9FC"/>
                </a:solidFill>
                <a:latin typeface="Aptos"/>
              </a:rPr>
              <a:t>Melvin Britto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3145536"/>
            <a:ext cx="2697480" cy="50292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721608" y="3255264"/>
            <a:ext cx="384048" cy="274320"/>
          </a:xfrm>
          <a:prstGeom prst="roundRect">
            <a:avLst/>
          </a:prstGeom>
          <a:solidFill>
            <a:srgbClr val="97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21608" y="326440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2" y="3282696"/>
            <a:ext cx="1874519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950" b="1">
                <a:solidFill>
                  <a:srgbClr val="F7F9FC"/>
                </a:solidFill>
                <a:latin typeface="Aptos"/>
              </a:rPr>
              <a:t>Tanisha Alone</a:t>
            </a:r>
            <a:endParaRPr lang="en-US" sz="950" b="1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" y="3803904"/>
            <a:ext cx="2697480" cy="50292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49808" y="3913632"/>
            <a:ext cx="384048" cy="274320"/>
          </a:xfrm>
          <a:prstGeom prst="roundRect">
            <a:avLst/>
          </a:prstGeom>
          <a:solidFill>
            <a:srgbClr val="1CC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3922776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3941064"/>
            <a:ext cx="1874519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80" b="1">
                <a:solidFill>
                  <a:srgbClr val="F7F9FC"/>
                </a:solidFill>
                <a:latin typeface="Aptos"/>
              </a:rPr>
              <a:t>Siddu Papunka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11880" y="3803904"/>
            <a:ext cx="2697480" cy="50292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ea typeface="Calibri"/>
              <a:cs typeface="Calibri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721608" y="3913632"/>
            <a:ext cx="384048" cy="274320"/>
          </a:xfrm>
          <a:prstGeom prst="roundRect">
            <a:avLst/>
          </a:prstGeom>
          <a:solidFill>
            <a:srgbClr val="97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21608" y="3922776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80" b="1">
                <a:solidFill>
                  <a:srgbClr val="F7F9FC"/>
                </a:solidFill>
                <a:latin typeface="Aptos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33672" y="3941064"/>
            <a:ext cx="1874519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950" b="1">
                <a:solidFill>
                  <a:srgbClr val="F7F9FC"/>
                </a:solidFill>
                <a:latin typeface="Aptos"/>
              </a:rPr>
              <a:t>Shalini Bindu</a:t>
            </a:r>
            <a:endParaRPr lang="en-US" sz="950" b="1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903720" y="1828800"/>
            <a:ext cx="4617720" cy="2834640"/>
          </a:xfrm>
          <a:prstGeom prst="roundRect">
            <a:avLst/>
          </a:prstGeom>
          <a:solidFill>
            <a:srgbClr val="131D2E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23760" y="2148840"/>
            <a:ext cx="3977639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000" b="1">
                <a:solidFill>
                  <a:srgbClr val="F5B235"/>
                </a:solidFill>
                <a:latin typeface="Aptos"/>
              </a:rPr>
              <a:t>PRESENTATION VIDEO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60920" y="2788920"/>
            <a:ext cx="3703320" cy="804672"/>
          </a:xfrm>
          <a:prstGeom prst="roundRect">
            <a:avLst/>
          </a:prstGeom>
          <a:solidFill>
            <a:srgbClr val="0B1422"/>
          </a:solidFill>
          <a:ln w="10160">
            <a:solidFill>
              <a:srgbClr val="35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52360" y="3054096"/>
            <a:ext cx="35204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ctr"/>
            <a:r>
              <a:rPr lang="en-US" sz="1000" dirty="0">
                <a:solidFill>
                  <a:srgbClr val="A0AEC2"/>
                </a:solidFill>
                <a:ea typeface="+mn-lt"/>
                <a:cs typeface="+mn-lt"/>
                <a:hlinkClick r:id="rId2"/>
              </a:rPr>
              <a:t>https://drive.google.com/file/d/1enq3XOjdT799xZuijPH27hF6G4IMCph0/view?usp=sharing</a:t>
            </a:r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7360920" y="3950208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00" b="0">
                <a:solidFill>
                  <a:srgbClr val="A0AEC2"/>
                </a:solidFill>
                <a:latin typeface="Aptos"/>
              </a:rPr>
              <a:t>Add the final demo / presentation URL here.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486400"/>
            <a:ext cx="10881360" cy="713232"/>
          </a:xfrm>
          <a:prstGeom prst="roundRect">
            <a:avLst/>
          </a:prstGeom>
          <a:solidFill>
            <a:srgbClr val="1CC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5687568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200" b="1">
                <a:solidFill>
                  <a:srgbClr val="080D19"/>
                </a:solidFill>
                <a:latin typeface="Aptos Display"/>
              </a:rPr>
              <a:t>THANK YOU  •  Turning property uncertainty into a structured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18</cp:revision>
  <dcterms:created xsi:type="dcterms:W3CDTF">2013-01-27T09:14:16Z</dcterms:created>
  <dcterms:modified xsi:type="dcterms:W3CDTF">2026-08-16T19:22:09Z</dcterms:modified>
  <cp:category/>
</cp:coreProperties>
</file>